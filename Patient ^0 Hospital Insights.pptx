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317" r:id="rId5"/>
    <p:sldId id="322" r:id="rId6"/>
    <p:sldId id="324" r:id="rId7"/>
    <p:sldId id="319" r:id="rId8"/>
    <p:sldId id="318" r:id="rId9"/>
    <p:sldId id="278" r:id="rId10"/>
    <p:sldId id="314" r:id="rId11"/>
    <p:sldId id="310" r:id="rId12"/>
    <p:sldId id="316" r:id="rId13"/>
    <p:sldId id="309" r:id="rId14"/>
    <p:sldId id="320" r:id="rId15"/>
    <p:sldId id="315" r:id="rId16"/>
    <p:sldId id="263" r:id="rId17"/>
    <p:sldId id="308" r:id="rId18"/>
    <p:sldId id="311" r:id="rId19"/>
    <p:sldId id="312" r:id="rId20"/>
    <p:sldId id="321" r:id="rId21"/>
    <p:sldId id="325" r:id="rId22"/>
    <p:sldId id="30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372BE-1684-4F35-965A-41FB4796094E}" v="36" dt="2026-10-24T14:17:32.405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tha Vasamsetti" userId="aca3a4803a16cb31" providerId="LiveId" clId="{35908E05-A926-48C3-880E-3CC0D22F3001}"/>
    <pc:docChg chg="undo custSel addSld delSld modSld sldOrd">
      <pc:chgData name="Kavitha Vasamsetti" userId="aca3a4803a16cb31" providerId="LiveId" clId="{35908E05-A926-48C3-880E-3CC0D22F3001}" dt="2026-10-26T03:26:41.318" v="749" actId="1076"/>
      <pc:docMkLst>
        <pc:docMk/>
      </pc:docMkLst>
      <pc:sldChg chg="addSp delSp modSp mod">
        <pc:chgData name="Kavitha Vasamsetti" userId="aca3a4803a16cb31" providerId="LiveId" clId="{35908E05-A926-48C3-880E-3CC0D22F3001}" dt="2026-10-24T13:56:01.284" v="506" actId="113"/>
        <pc:sldMkLst>
          <pc:docMk/>
          <pc:sldMk cId="1966913227" sldId="309"/>
        </pc:sldMkLst>
        <pc:spChg chg="mod">
          <ac:chgData name="Kavitha Vasamsetti" userId="aca3a4803a16cb31" providerId="LiveId" clId="{35908E05-A926-48C3-880E-3CC0D22F3001}" dt="2026-10-24T13:56:01.284" v="506" actId="113"/>
          <ac:spMkLst>
            <pc:docMk/>
            <pc:sldMk cId="1966913227" sldId="309"/>
            <ac:spMk id="19" creationId="{A7BE12AD-D808-BDE0-3EB8-5BC50B1D8474}"/>
          </ac:spMkLst>
        </pc:spChg>
        <pc:picChg chg="add mod">
          <ac:chgData name="Kavitha Vasamsetti" userId="aca3a4803a16cb31" providerId="LiveId" clId="{35908E05-A926-48C3-880E-3CC0D22F3001}" dt="2026-10-24T13:15:57.773" v="455" actId="1076"/>
          <ac:picMkLst>
            <pc:docMk/>
            <pc:sldMk cId="1966913227" sldId="309"/>
            <ac:picMk id="3" creationId="{95CD4937-C014-3DEB-6646-CEFD90E92FD8}"/>
          </ac:picMkLst>
        </pc:picChg>
        <pc:picChg chg="add mod">
          <ac:chgData name="Kavitha Vasamsetti" userId="aca3a4803a16cb31" providerId="LiveId" clId="{35908E05-A926-48C3-880E-3CC0D22F3001}" dt="2026-10-24T13:16:17.761" v="458" actId="1076"/>
          <ac:picMkLst>
            <pc:docMk/>
            <pc:sldMk cId="1966913227" sldId="309"/>
            <ac:picMk id="8" creationId="{C5212101-F7A2-F2CA-DF13-77E25C3A5D26}"/>
          </ac:picMkLst>
        </pc:picChg>
      </pc:sldChg>
      <pc:sldChg chg="addSp delSp modSp mod">
        <pc:chgData name="Kavitha Vasamsetti" userId="aca3a4803a16cb31" providerId="LiveId" clId="{35908E05-A926-48C3-880E-3CC0D22F3001}" dt="2026-10-24T13:48:44.063" v="461" actId="1076"/>
        <pc:sldMkLst>
          <pc:docMk/>
          <pc:sldMk cId="859909800" sldId="312"/>
        </pc:sldMkLst>
        <pc:picChg chg="add mod">
          <ac:chgData name="Kavitha Vasamsetti" userId="aca3a4803a16cb31" providerId="LiveId" clId="{35908E05-A926-48C3-880E-3CC0D22F3001}" dt="2026-10-24T13:48:44.063" v="461" actId="1076"/>
          <ac:picMkLst>
            <pc:docMk/>
            <pc:sldMk cId="859909800" sldId="312"/>
            <ac:picMk id="3" creationId="{1D96DCB8-60F0-A21B-80F6-6B4029987A53}"/>
          </ac:picMkLst>
        </pc:picChg>
        <pc:picChg chg="add mod">
          <ac:chgData name="Kavitha Vasamsetti" userId="aca3a4803a16cb31" providerId="LiveId" clId="{35908E05-A926-48C3-880E-3CC0D22F3001}" dt="2026-10-18T12:34:42.725" v="422" actId="14100"/>
          <ac:picMkLst>
            <pc:docMk/>
            <pc:sldMk cId="859909800" sldId="312"/>
            <ac:picMk id="6" creationId="{06941621-2AE8-757F-5149-4EE2800845E0}"/>
          </ac:picMkLst>
        </pc:picChg>
      </pc:sldChg>
      <pc:sldChg chg="addSp delSp modSp mod">
        <pc:chgData name="Kavitha Vasamsetti" userId="aca3a4803a16cb31" providerId="LiveId" clId="{35908E05-A926-48C3-880E-3CC0D22F3001}" dt="2026-10-24T13:02:37.024" v="446" actId="14100"/>
        <pc:sldMkLst>
          <pc:docMk/>
          <pc:sldMk cId="4132147533" sldId="314"/>
        </pc:sldMkLst>
        <pc:picChg chg="add mod">
          <ac:chgData name="Kavitha Vasamsetti" userId="aca3a4803a16cb31" providerId="LiveId" clId="{35908E05-A926-48C3-880E-3CC0D22F3001}" dt="2026-10-24T13:01:44.306" v="442" actId="1076"/>
          <ac:picMkLst>
            <pc:docMk/>
            <pc:sldMk cId="4132147533" sldId="314"/>
            <ac:picMk id="4" creationId="{F010F03E-ABF0-F82D-B0DF-29243E480E82}"/>
          </ac:picMkLst>
        </pc:picChg>
        <pc:picChg chg="add mod">
          <ac:chgData name="Kavitha Vasamsetti" userId="aca3a4803a16cb31" providerId="LiveId" clId="{35908E05-A926-48C3-880E-3CC0D22F3001}" dt="2026-10-24T13:02:37.024" v="446" actId="14100"/>
          <ac:picMkLst>
            <pc:docMk/>
            <pc:sldMk cId="4132147533" sldId="314"/>
            <ac:picMk id="8" creationId="{802F0E20-9E5E-A5D0-7779-A75145627BE8}"/>
          </ac:picMkLst>
        </pc:picChg>
      </pc:sldChg>
      <pc:sldChg chg="addSp delSp modSp new mod ord">
        <pc:chgData name="Kavitha Vasamsetti" userId="aca3a4803a16cb31" providerId="LiveId" clId="{35908E05-A926-48C3-880E-3CC0D22F3001}" dt="2026-10-26T03:26:08.377" v="746" actId="14100"/>
        <pc:sldMkLst>
          <pc:docMk/>
          <pc:sldMk cId="2543337956" sldId="318"/>
        </pc:sldMkLst>
        <pc:spChg chg="add mod">
          <ac:chgData name="Kavitha Vasamsetti" userId="aca3a4803a16cb31" providerId="LiveId" clId="{35908E05-A926-48C3-880E-3CC0D22F3001}" dt="2026-10-18T12:20:49.615" v="384" actId="1076"/>
          <ac:spMkLst>
            <pc:docMk/>
            <pc:sldMk cId="2543337956" sldId="318"/>
            <ac:spMk id="3" creationId="{73012285-2A86-664F-C5B6-D488878979D1}"/>
          </ac:spMkLst>
        </pc:spChg>
        <pc:picChg chg="add mod">
          <ac:chgData name="Kavitha Vasamsetti" userId="aca3a4803a16cb31" providerId="LiveId" clId="{35908E05-A926-48C3-880E-3CC0D22F3001}" dt="2026-10-18T12:21:05.649" v="386" actId="1076"/>
          <ac:picMkLst>
            <pc:docMk/>
            <pc:sldMk cId="2543337956" sldId="318"/>
            <ac:picMk id="5" creationId="{DC766479-F796-33C5-ADF8-E2803F69B40A}"/>
          </ac:picMkLst>
        </pc:picChg>
        <pc:picChg chg="add mod">
          <ac:chgData name="Kavitha Vasamsetti" userId="aca3a4803a16cb31" providerId="LiveId" clId="{35908E05-A926-48C3-880E-3CC0D22F3001}" dt="2026-10-18T12:21:15.810" v="388" actId="1076"/>
          <ac:picMkLst>
            <pc:docMk/>
            <pc:sldMk cId="2543337956" sldId="318"/>
            <ac:picMk id="8" creationId="{F0469D47-108A-84EE-25BC-B59505B8FBA4}"/>
          </ac:picMkLst>
        </pc:picChg>
        <pc:picChg chg="add mod">
          <ac:chgData name="Kavitha Vasamsetti" userId="aca3a4803a16cb31" providerId="LiveId" clId="{35908E05-A926-48C3-880E-3CC0D22F3001}" dt="2026-10-26T03:26:08.377" v="746" actId="14100"/>
          <ac:picMkLst>
            <pc:docMk/>
            <pc:sldMk cId="2543337956" sldId="318"/>
            <ac:picMk id="9" creationId="{40362F1A-A648-69E9-EC63-8E1C0A05B8AF}"/>
          </ac:picMkLst>
        </pc:picChg>
        <pc:picChg chg="add mod">
          <ac:chgData name="Kavitha Vasamsetti" userId="aca3a4803a16cb31" providerId="LiveId" clId="{35908E05-A926-48C3-880E-3CC0D22F3001}" dt="2026-10-24T12:57:54.467" v="439" actId="14100"/>
          <ac:picMkLst>
            <pc:docMk/>
            <pc:sldMk cId="2543337956" sldId="318"/>
            <ac:picMk id="12" creationId="{BDD60305-F35E-FBFC-6F1C-462818F514A1}"/>
          </ac:picMkLst>
        </pc:picChg>
      </pc:sldChg>
      <pc:sldChg chg="modSp mod">
        <pc:chgData name="Kavitha Vasamsetti" userId="aca3a4803a16cb31" providerId="LiveId" clId="{35908E05-A926-48C3-880E-3CC0D22F3001}" dt="2026-10-18T12:22:33.007" v="396" actId="14100"/>
        <pc:sldMkLst>
          <pc:docMk/>
          <pc:sldMk cId="2926795796" sldId="320"/>
        </pc:sldMkLst>
        <pc:picChg chg="mod">
          <ac:chgData name="Kavitha Vasamsetti" userId="aca3a4803a16cb31" providerId="LiveId" clId="{35908E05-A926-48C3-880E-3CC0D22F3001}" dt="2026-10-18T12:22:23.183" v="394" actId="14100"/>
          <ac:picMkLst>
            <pc:docMk/>
            <pc:sldMk cId="2926795796" sldId="320"/>
            <ac:picMk id="6" creationId="{DA21E5B6-F85F-29E6-FECB-2B740DD20C4F}"/>
          </ac:picMkLst>
        </pc:picChg>
        <pc:picChg chg="mod">
          <ac:chgData name="Kavitha Vasamsetti" userId="aca3a4803a16cb31" providerId="LiveId" clId="{35908E05-A926-48C3-880E-3CC0D22F3001}" dt="2026-10-18T12:22:28.159" v="395" actId="14100"/>
          <ac:picMkLst>
            <pc:docMk/>
            <pc:sldMk cId="2926795796" sldId="320"/>
            <ac:picMk id="9" creationId="{139B4A52-6452-B55E-C5D0-8EF8FEDFBAA5}"/>
          </ac:picMkLst>
        </pc:picChg>
        <pc:picChg chg="mod">
          <ac:chgData name="Kavitha Vasamsetti" userId="aca3a4803a16cb31" providerId="LiveId" clId="{35908E05-A926-48C3-880E-3CC0D22F3001}" dt="2026-10-18T12:22:33.007" v="396" actId="14100"/>
          <ac:picMkLst>
            <pc:docMk/>
            <pc:sldMk cId="2926795796" sldId="320"/>
            <ac:picMk id="13" creationId="{2411B9DD-AF5C-22B8-3859-F23470AB372F}"/>
          </ac:picMkLst>
        </pc:picChg>
      </pc:sldChg>
      <pc:sldChg chg="addSp delSp modSp new mod">
        <pc:chgData name="Kavitha Vasamsetti" userId="aca3a4803a16cb31" providerId="LiveId" clId="{35908E05-A926-48C3-880E-3CC0D22F3001}" dt="2026-10-26T03:26:41.318" v="749" actId="1076"/>
        <pc:sldMkLst>
          <pc:docMk/>
          <pc:sldMk cId="3738060344" sldId="321"/>
        </pc:sldMkLst>
        <pc:spChg chg="mod">
          <ac:chgData name="Kavitha Vasamsetti" userId="aca3a4803a16cb31" providerId="LiveId" clId="{35908E05-A926-48C3-880E-3CC0D22F3001}" dt="2026-10-26T03:26:30.713" v="747" actId="1076"/>
          <ac:spMkLst>
            <pc:docMk/>
            <pc:sldMk cId="3738060344" sldId="321"/>
            <ac:spMk id="2" creationId="{6B3D6100-69F1-3AB2-D4BD-FF15C81642CA}"/>
          </ac:spMkLst>
        </pc:spChg>
        <pc:spChg chg="add mod">
          <ac:chgData name="Kavitha Vasamsetti" userId="aca3a4803a16cb31" providerId="LiveId" clId="{35908E05-A926-48C3-880E-3CC0D22F3001}" dt="2026-10-26T03:26:41.318" v="749" actId="1076"/>
          <ac:spMkLst>
            <pc:docMk/>
            <pc:sldMk cId="3738060344" sldId="321"/>
            <ac:spMk id="11" creationId="{ACB01403-DAFF-0C50-CFBD-5DF0A0F66F7C}"/>
          </ac:spMkLst>
        </pc:spChg>
        <pc:picChg chg="add mod ord">
          <ac:chgData name="Kavitha Vasamsetti" userId="aca3a4803a16cb31" providerId="LiveId" clId="{35908E05-A926-48C3-880E-3CC0D22F3001}" dt="2026-10-26T03:26:36.547" v="748" actId="1076"/>
          <ac:picMkLst>
            <pc:docMk/>
            <pc:sldMk cId="3738060344" sldId="321"/>
            <ac:picMk id="7" creationId="{46DEB8BD-605D-EED3-1789-42E1B72FBCF3}"/>
          </ac:picMkLst>
        </pc:picChg>
        <pc:picChg chg="add mod">
          <ac:chgData name="Kavitha Vasamsetti" userId="aca3a4803a16cb31" providerId="LiveId" clId="{35908E05-A926-48C3-880E-3CC0D22F3001}" dt="2026-10-18T12:47:42.709" v="427" actId="1076"/>
          <ac:picMkLst>
            <pc:docMk/>
            <pc:sldMk cId="3738060344" sldId="321"/>
            <ac:picMk id="9" creationId="{DE57EE15-A6A6-8CE2-D0AA-2E54E1489AD2}"/>
          </ac:picMkLst>
        </pc:picChg>
      </pc:sldChg>
      <pc:sldChg chg="delSp modSp new mod ord">
        <pc:chgData name="Kavitha Vasamsetti" userId="aca3a4803a16cb31" providerId="LiveId" clId="{35908E05-A926-48C3-880E-3CC0D22F3001}" dt="2026-10-24T13:56:22.565" v="512" actId="20577"/>
        <pc:sldMkLst>
          <pc:docMk/>
          <pc:sldMk cId="1405658675" sldId="322"/>
        </pc:sldMkLst>
        <pc:spChg chg="mod">
          <ac:chgData name="Kavitha Vasamsetti" userId="aca3a4803a16cb31" providerId="LiveId" clId="{35908E05-A926-48C3-880E-3CC0D22F3001}" dt="2026-10-24T13:56:22.565" v="512" actId="20577"/>
          <ac:spMkLst>
            <pc:docMk/>
            <pc:sldMk cId="1405658675" sldId="322"/>
            <ac:spMk id="3" creationId="{ABBA1A18-F914-9D18-9523-2499E63CEB2C}"/>
          </ac:spMkLst>
        </pc:spChg>
      </pc:sldChg>
      <pc:sldChg chg="addSp delSp modSp new mod">
        <pc:chgData name="Kavitha Vasamsetti" userId="aca3a4803a16cb31" providerId="LiveId" clId="{35908E05-A926-48C3-880E-3CC0D22F3001}" dt="2026-10-24T14:06:47.316" v="626" actId="478"/>
        <pc:sldMkLst>
          <pc:docMk/>
          <pc:sldMk cId="1677416842" sldId="324"/>
        </pc:sldMkLst>
        <pc:spChg chg="mod">
          <ac:chgData name="Kavitha Vasamsetti" userId="aca3a4803a16cb31" providerId="LiveId" clId="{35908E05-A926-48C3-880E-3CC0D22F3001}" dt="2026-10-24T14:06:29.736" v="624" actId="255"/>
          <ac:spMkLst>
            <pc:docMk/>
            <pc:sldMk cId="1677416842" sldId="324"/>
            <ac:spMk id="2" creationId="{BBF30C41-0669-0DC7-2B3A-6CCB957762A7}"/>
          </ac:spMkLst>
        </pc:spChg>
        <pc:spChg chg="mod">
          <ac:chgData name="Kavitha Vasamsetti" userId="aca3a4803a16cb31" providerId="LiveId" clId="{35908E05-A926-48C3-880E-3CC0D22F3001}" dt="2026-10-24T14:05:32.607" v="616" actId="5793"/>
          <ac:spMkLst>
            <pc:docMk/>
            <pc:sldMk cId="1677416842" sldId="324"/>
            <ac:spMk id="3" creationId="{50E7DDB2-09AE-E0C7-4295-56F91ADB6229}"/>
          </ac:spMkLst>
        </pc:spChg>
        <pc:spChg chg="add del mod">
          <ac:chgData name="Kavitha Vasamsetti" userId="aca3a4803a16cb31" providerId="LiveId" clId="{35908E05-A926-48C3-880E-3CC0D22F3001}" dt="2026-10-24T14:05:55.839" v="621" actId="2711"/>
          <ac:spMkLst>
            <pc:docMk/>
            <pc:sldMk cId="1677416842" sldId="324"/>
            <ac:spMk id="4" creationId="{27AF67A6-1CE8-3386-C4E9-5AA46AF1A414}"/>
          </ac:spMkLst>
        </pc:spChg>
        <pc:spChg chg="add mod">
          <ac:chgData name="Kavitha Vasamsetti" userId="aca3a4803a16cb31" providerId="LiveId" clId="{35908E05-A926-48C3-880E-3CC0D22F3001}" dt="2026-10-24T14:05:29.788" v="615" actId="1076"/>
          <ac:spMkLst>
            <pc:docMk/>
            <pc:sldMk cId="1677416842" sldId="324"/>
            <ac:spMk id="6" creationId="{FE3658BA-D608-BE6D-CA1A-66CC974363CD}"/>
          </ac:spMkLst>
        </pc:spChg>
      </pc:sldChg>
      <pc:sldChg chg="addSp modSp new mod">
        <pc:chgData name="Kavitha Vasamsetti" userId="aca3a4803a16cb31" providerId="LiveId" clId="{35908E05-A926-48C3-880E-3CC0D22F3001}" dt="2026-10-24T14:18:22.989" v="744" actId="1076"/>
        <pc:sldMkLst>
          <pc:docMk/>
          <pc:sldMk cId="2256702767" sldId="325"/>
        </pc:sldMkLst>
        <pc:spChg chg="mod">
          <ac:chgData name="Kavitha Vasamsetti" userId="aca3a4803a16cb31" providerId="LiveId" clId="{35908E05-A926-48C3-880E-3CC0D22F3001}" dt="2026-10-24T14:18:22.989" v="744" actId="1076"/>
          <ac:spMkLst>
            <pc:docMk/>
            <pc:sldMk cId="2256702767" sldId="325"/>
            <ac:spMk id="2" creationId="{EF8FD011-8EDE-3547-092F-C56C62E8151D}"/>
          </ac:spMkLst>
        </pc:spChg>
        <pc:spChg chg="add mod">
          <ac:chgData name="Kavitha Vasamsetti" userId="aca3a4803a16cb31" providerId="LiveId" clId="{35908E05-A926-48C3-880E-3CC0D22F3001}" dt="2026-10-24T14:11:45.356" v="669" actId="1076"/>
          <ac:spMkLst>
            <pc:docMk/>
            <pc:sldMk cId="2256702767" sldId="325"/>
            <ac:spMk id="3" creationId="{D9C38469-3A0F-FFFE-B0A3-B2B41F48C3B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IN" dirty="0"/>
              <a:t>Patient &amp; Hospital Insights</a:t>
            </a:r>
            <a:br>
              <a:rPr lang="en-IN" dirty="0"/>
            </a:br>
            <a:r>
              <a:rPr lang="en-IN" dirty="0"/>
              <a:t> through 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A1A18-F914-9D18-9523-2499E63CEB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2218" y="1220326"/>
            <a:ext cx="9327563" cy="4226745"/>
          </a:xfrm>
        </p:spPr>
        <p:txBody>
          <a:bodyPr>
            <a:normAutofit/>
          </a:bodyPr>
          <a:lstStyle/>
          <a:p>
            <a:r>
              <a:rPr lang="en-IN" sz="2600" b="1" dirty="0">
                <a:latin typeface="+mj-lt"/>
              </a:rPr>
              <a:t>Project Objectives</a:t>
            </a:r>
          </a:p>
          <a:p>
            <a:endParaRPr lang="en-IN" sz="2600" b="1" dirty="0">
              <a:latin typeface="+mj-lt"/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IN" cap="none" dirty="0" err="1">
                <a:latin typeface="+mj-lt"/>
              </a:rPr>
              <a:t>Analyze</a:t>
            </a:r>
            <a:r>
              <a:rPr lang="en-IN" cap="none" dirty="0">
                <a:latin typeface="+mj-lt"/>
              </a:rPr>
              <a:t> patient demographics based on age, gender, and city.</a:t>
            </a: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IN" cap="none" dirty="0">
                <a:latin typeface="+mj-lt"/>
              </a:rPr>
              <a:t>Examine hospital appointments and doctor-wise consultations.</a:t>
            </a: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IN" cap="none" dirty="0">
                <a:latin typeface="+mj-lt"/>
              </a:rPr>
              <a:t>Identify department-wise consultation activity.</a:t>
            </a: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IN" cap="none" dirty="0" err="1">
                <a:latin typeface="+mj-lt"/>
              </a:rPr>
              <a:t>Analyze</a:t>
            </a:r>
            <a:r>
              <a:rPr lang="en-IN" cap="none" dirty="0">
                <a:latin typeface="+mj-lt"/>
              </a:rPr>
              <a:t> consultation fees and revenue distribution.</a:t>
            </a: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IN" cap="none" dirty="0">
                <a:latin typeface="+mj-lt"/>
              </a:rPr>
              <a:t>Understand monthly appointment trends and cumulative revenue using SQL.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565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0C41-0669-0DC7-2B3A-6CCB9577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777831"/>
            <a:ext cx="9878370" cy="1699898"/>
          </a:xfrm>
        </p:spPr>
        <p:txBody>
          <a:bodyPr/>
          <a:lstStyle/>
          <a:p>
            <a:pPr algn="ctr"/>
            <a:r>
              <a:rPr lang="en-IN" sz="2400" b="1" dirty="0"/>
              <a:t>DATASET OVERVIEW</a:t>
            </a:r>
            <a:br>
              <a:rPr lang="en-IN" sz="2400" b="1" dirty="0"/>
            </a:br>
            <a:r>
              <a:rPr lang="en-IN" sz="2000" dirty="0"/>
              <a:t>Dataset: Patient &amp; Hospital Appointment Data</a:t>
            </a:r>
            <a:br>
              <a:rPr lang="en-IN" sz="2000" dirty="0"/>
            </a:br>
            <a:r>
              <a:rPr lang="en-IN" sz="2000" dirty="0"/>
              <a:t>Database Tables: 2</a:t>
            </a:r>
            <a:br>
              <a:rPr lang="en-IN" sz="2000" dirty="0"/>
            </a:br>
            <a:br>
              <a:rPr lang="en-IN" sz="2400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DDB2-09AE-E0C7-4295-56F91ADB62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4817807" cy="3093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cap="none" dirty="0">
                <a:latin typeface="+mj-lt"/>
              </a:rPr>
              <a:t>Patients Table — 150 Records</a:t>
            </a:r>
            <a:endParaRPr lang="en-IN" cap="none" dirty="0">
              <a:latin typeface="+mj-lt"/>
            </a:endParaRPr>
          </a:p>
          <a:p>
            <a:r>
              <a:rPr lang="en-IN" cap="none" dirty="0">
                <a:latin typeface="+mj-lt"/>
              </a:rPr>
              <a:t>Patient ID</a:t>
            </a:r>
          </a:p>
          <a:p>
            <a:r>
              <a:rPr lang="en-IN" cap="none" dirty="0">
                <a:latin typeface="+mj-lt"/>
              </a:rPr>
              <a:t>First name &amp; last name</a:t>
            </a:r>
          </a:p>
          <a:p>
            <a:r>
              <a:rPr lang="en-IN" cap="none" dirty="0">
                <a:latin typeface="+mj-lt"/>
              </a:rPr>
              <a:t>City</a:t>
            </a:r>
          </a:p>
          <a:p>
            <a:r>
              <a:rPr lang="en-IN" cap="none" dirty="0">
                <a:latin typeface="+mj-lt"/>
              </a:rPr>
              <a:t>Gender</a:t>
            </a:r>
          </a:p>
          <a:p>
            <a:r>
              <a:rPr lang="en-IN" cap="none" dirty="0">
                <a:latin typeface="+mj-lt"/>
              </a:rPr>
              <a:t>Date of birth</a:t>
            </a:r>
            <a:endParaRPr lang="en-IN" dirty="0">
              <a:latin typeface="+mj-lt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F67A6-1CE8-3386-C4E9-5AA46AF1A4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59489" y="2039111"/>
            <a:ext cx="4817807" cy="3093328"/>
          </a:xfrm>
        </p:spPr>
        <p:txBody>
          <a:bodyPr/>
          <a:lstStyle/>
          <a:p>
            <a:r>
              <a:rPr lang="en-IN" b="1" dirty="0">
                <a:latin typeface="+mj-lt"/>
              </a:rPr>
              <a:t>Appointments Table — 50 Records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IN" dirty="0">
                <a:latin typeface="+mj-lt"/>
              </a:rPr>
              <a:t>Appointment ID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IN" dirty="0">
                <a:latin typeface="+mj-lt"/>
              </a:rPr>
              <a:t>Patient ID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IN" dirty="0">
                <a:latin typeface="+mj-lt"/>
              </a:rPr>
              <a:t>Appointment date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IN" dirty="0">
                <a:latin typeface="+mj-lt"/>
              </a:rPr>
              <a:t>Doctor name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IN" dirty="0">
                <a:latin typeface="+mj-lt"/>
              </a:rPr>
              <a:t>Department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IN" dirty="0">
                <a:latin typeface="+mj-lt"/>
              </a:rPr>
              <a:t>Consultation fee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658BA-D608-BE6D-CA1A-66CC974363CD}"/>
              </a:ext>
            </a:extLst>
          </p:cNvPr>
          <p:cNvSpPr txBox="1"/>
          <p:nvPr/>
        </p:nvSpPr>
        <p:spPr>
          <a:xfrm>
            <a:off x="816078" y="4994786"/>
            <a:ext cx="906534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+mj-lt"/>
              </a:rPr>
              <a:t>Relationship:</a:t>
            </a:r>
            <a:r>
              <a:rPr lang="en-IN" sz="2000" dirty="0">
                <a:latin typeface="+mj-lt"/>
              </a:rPr>
              <a:t> Both tables are connected using </a:t>
            </a:r>
            <a:r>
              <a:rPr lang="en-IN" sz="2000" dirty="0" err="1">
                <a:latin typeface="+mj-lt"/>
              </a:rPr>
              <a:t>patient_id</a:t>
            </a:r>
            <a:r>
              <a:rPr lang="en-IN" sz="2000" dirty="0">
                <a:latin typeface="+mj-lt"/>
              </a:rPr>
              <a:t>.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+mj-lt"/>
              </a:rPr>
              <a:t>Tool Used:</a:t>
            </a:r>
            <a:r>
              <a:rPr lang="en-IN" sz="2000" dirty="0">
                <a:latin typeface="+mj-lt"/>
              </a:rPr>
              <a:t> </a:t>
            </a:r>
            <a:r>
              <a:rPr lang="en-IN" sz="2000" dirty="0" err="1">
                <a:latin typeface="+mj-lt"/>
              </a:rPr>
              <a:t>Mysql</a:t>
            </a:r>
            <a:endParaRPr lang="en-IN" sz="2000" dirty="0">
              <a:latin typeface="+mj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41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2D1C5E-363C-E69C-1B2F-DE95C0227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29" y="917449"/>
            <a:ext cx="2381582" cy="342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38F1AF-A6D6-27D2-1FB4-B7F2FBDBA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29" y="1510796"/>
            <a:ext cx="5687219" cy="2086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C7C2B7-6B27-3082-BB6D-18B21E859A49}"/>
              </a:ext>
            </a:extLst>
          </p:cNvPr>
          <p:cNvSpPr txBox="1"/>
          <p:nvPr/>
        </p:nvSpPr>
        <p:spPr>
          <a:xfrm>
            <a:off x="4926960" y="33779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cap="none" dirty="0">
                <a:latin typeface="+mj-lt"/>
                <a:cs typeface="Times New Roman" panose="02020603050405020304" pitchFamily="18" charset="0"/>
              </a:rPr>
              <a:t>Queries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0BFEF5-CB61-41AD-EF6E-409C628D6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860" y="3594604"/>
            <a:ext cx="2610214" cy="333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2BFFA6-4DB9-5F92-0005-3153984BD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5170" y="4219430"/>
            <a:ext cx="6658904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79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F356960-7147-25AB-7951-7B1D82892869}"/>
              </a:ext>
            </a:extLst>
          </p:cNvPr>
          <p:cNvSpPr txBox="1"/>
          <p:nvPr/>
        </p:nvSpPr>
        <p:spPr>
          <a:xfrm>
            <a:off x="1081548" y="10129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cap="none" dirty="0">
                <a:latin typeface="+mj-lt"/>
                <a:cs typeface="Times New Roman" panose="02020603050405020304" pitchFamily="18" charset="0"/>
              </a:rPr>
              <a:t>Total </a:t>
            </a:r>
            <a:r>
              <a:rPr lang="en-US" sz="2400" b="1" cap="none" dirty="0" err="1">
                <a:latin typeface="+mj-lt"/>
                <a:cs typeface="Times New Roman" panose="02020603050405020304" pitchFamily="18" charset="0"/>
              </a:rPr>
              <a:t>No.of</a:t>
            </a:r>
            <a:r>
              <a:rPr lang="en-US" sz="2400" b="1" cap="none" dirty="0">
                <a:latin typeface="+mj-lt"/>
                <a:cs typeface="Times New Roman" panose="02020603050405020304" pitchFamily="18" charset="0"/>
              </a:rPr>
              <a:t> Doctors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FA606B-4AE9-CBBD-6240-12A774BB9D0B}"/>
              </a:ext>
            </a:extLst>
          </p:cNvPr>
          <p:cNvSpPr txBox="1"/>
          <p:nvPr/>
        </p:nvSpPr>
        <p:spPr>
          <a:xfrm>
            <a:off x="1081548" y="271147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cap="none" dirty="0">
                <a:latin typeface="+mj-lt"/>
                <a:cs typeface="Times New Roman" panose="02020603050405020304" pitchFamily="18" charset="0"/>
              </a:rPr>
              <a:t>Output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12285-2A86-664F-C5B6-D488878979D1}"/>
              </a:ext>
            </a:extLst>
          </p:cNvPr>
          <p:cNvSpPr txBox="1"/>
          <p:nvPr/>
        </p:nvSpPr>
        <p:spPr>
          <a:xfrm>
            <a:off x="7177548" y="346162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cap="none" dirty="0">
                <a:latin typeface="+mj-lt"/>
                <a:cs typeface="Times New Roman" panose="02020603050405020304" pitchFamily="18" charset="0"/>
              </a:rPr>
              <a:t>Total </a:t>
            </a:r>
            <a:r>
              <a:rPr lang="en-US" sz="2400" b="1" cap="none" dirty="0" err="1">
                <a:latin typeface="+mj-lt"/>
                <a:cs typeface="Times New Roman" panose="02020603050405020304" pitchFamily="18" charset="0"/>
              </a:rPr>
              <a:t>No.of</a:t>
            </a:r>
            <a:r>
              <a:rPr lang="en-US" sz="2400" b="1" dirty="0">
                <a:latin typeface="+mj-lt"/>
                <a:cs typeface="Times New Roman" panose="02020603050405020304" pitchFamily="18" charset="0"/>
              </a:rPr>
              <a:t> Patients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66479-F796-33C5-ADF8-E2803F69B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695" y="4157684"/>
            <a:ext cx="4725059" cy="771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469D47-108A-84EE-25BC-B59505B8F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224" y="5297667"/>
            <a:ext cx="1939321" cy="7422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362F1A-A648-69E9-EC63-8E1C0A05B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49" y="1673494"/>
            <a:ext cx="5330477" cy="5780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D60305-F35E-FBFC-6F1C-462818F51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548" y="3429000"/>
            <a:ext cx="1977856" cy="72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37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27213" y="924230"/>
            <a:ext cx="5449824" cy="599769"/>
          </a:xfrm>
        </p:spPr>
        <p:txBody>
          <a:bodyPr/>
          <a:lstStyle/>
          <a:p>
            <a:r>
              <a:rPr lang="en-IN" b="1" cap="none" dirty="0">
                <a:latin typeface="+mj-lt"/>
                <a:cs typeface="Times New Roman" panose="02020603050405020304" pitchFamily="18" charset="0"/>
              </a:rPr>
              <a:t>Patient Count By </a:t>
            </a:r>
            <a:r>
              <a:rPr lang="en-IN" b="1" cap="none" dirty="0">
                <a:latin typeface="+mj-lt"/>
                <a:ea typeface="+mj-ea"/>
                <a:cs typeface="+mj-cs"/>
              </a:rPr>
              <a:t>Gender</a:t>
            </a:r>
            <a:r>
              <a:rPr lang="en-IN" b="1" cap="none" dirty="0">
                <a:latin typeface="+mj-lt"/>
                <a:cs typeface="Times New Roman" panose="02020603050405020304" pitchFamily="18" charset="0"/>
              </a:rPr>
              <a:t> &amp; City</a:t>
            </a:r>
            <a:endParaRPr lang="en-US" b="1" cap="none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DA70FA-796F-EEF2-E7D3-6CF67B6AB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05" y="1523999"/>
            <a:ext cx="8478433" cy="20767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6A2F08-C436-C99A-D4EA-DB481063A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389" y="4257526"/>
            <a:ext cx="4744112" cy="2152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E9294E-CF78-3CBA-62B7-95754687C221}"/>
              </a:ext>
            </a:extLst>
          </p:cNvPr>
          <p:cNvSpPr txBox="1"/>
          <p:nvPr/>
        </p:nvSpPr>
        <p:spPr>
          <a:xfrm>
            <a:off x="927213" y="3896641"/>
            <a:ext cx="6125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cap="none" dirty="0">
                <a:latin typeface="+mj-lt"/>
                <a:cs typeface="Times New Roman" panose="02020603050405020304" pitchFamily="18" charset="0"/>
              </a:rPr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err="1"/>
              <a:t>No.of</a:t>
            </a:r>
            <a:r>
              <a:rPr lang="en-US" sz="2400" b="1" dirty="0"/>
              <a:t> Doctors Department wise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962A4-6AD1-7BBA-3EBB-E664060AF322}"/>
              </a:ext>
            </a:extLst>
          </p:cNvPr>
          <p:cNvSpPr txBox="1"/>
          <p:nvPr/>
        </p:nvSpPr>
        <p:spPr>
          <a:xfrm>
            <a:off x="1059425" y="3635087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imes New Roman" panose="02020603050405020304" pitchFamily="18" charset="0"/>
              </a:rPr>
              <a:t>Output : 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10F03E-ABF0-F82D-B0DF-29243E480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25" y="1929274"/>
            <a:ext cx="5639289" cy="1386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2F0E20-9E5E-A5D0-7779-A75145627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24" y="4241734"/>
            <a:ext cx="2431027" cy="192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4" y="147484"/>
            <a:ext cx="10360152" cy="914400"/>
          </a:xfrm>
        </p:spPr>
        <p:txBody>
          <a:bodyPr/>
          <a:lstStyle/>
          <a:p>
            <a:r>
              <a:rPr lang="en-US" sz="2400" b="1" dirty="0"/>
              <a:t>Top 5 cities having the highest number of registered patients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D6C240-B1EC-7C8F-B828-FE91806A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03" y="1425077"/>
            <a:ext cx="4820323" cy="14098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A258FF-5689-423A-FDF7-0103EE37D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743" y="3794238"/>
            <a:ext cx="2648320" cy="13146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2B5122-804E-7D80-1E66-0D7D60271939}"/>
              </a:ext>
            </a:extLst>
          </p:cNvPr>
          <p:cNvSpPr txBox="1"/>
          <p:nvPr/>
        </p:nvSpPr>
        <p:spPr>
          <a:xfrm>
            <a:off x="882445" y="3198167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imes New Roman" panose="02020603050405020304" pitchFamily="18" charset="0"/>
              </a:rPr>
              <a:t>Output : 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Top 3 doctors who have handled the highest number of patient consultations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7D6D03-76D3-D1FF-0698-094C881CE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79" y="1938520"/>
            <a:ext cx="6354062" cy="17814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9C556A-248E-92C7-E02C-91311247D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614" y="4829019"/>
            <a:ext cx="2648320" cy="1114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FA9325-4935-DE6E-8C50-B518675DAA96}"/>
              </a:ext>
            </a:extLst>
          </p:cNvPr>
          <p:cNvSpPr txBox="1"/>
          <p:nvPr/>
        </p:nvSpPr>
        <p:spPr>
          <a:xfrm>
            <a:off x="914400" y="4146365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imes New Roman" panose="02020603050405020304" pitchFamily="18" charset="0"/>
              </a:rPr>
              <a:t>Output : 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68" y="11257"/>
            <a:ext cx="7534656" cy="914400"/>
          </a:xfrm>
        </p:spPr>
        <p:txBody>
          <a:bodyPr/>
          <a:lstStyle/>
          <a:p>
            <a:r>
              <a:rPr lang="en-IN" sz="2400" b="1" dirty="0"/>
              <a:t>Monthly Appointment Analysis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EC8BA-DC1B-786A-6159-E8BA36CD95E4}"/>
              </a:ext>
            </a:extLst>
          </p:cNvPr>
          <p:cNvSpPr txBox="1"/>
          <p:nvPr/>
        </p:nvSpPr>
        <p:spPr>
          <a:xfrm>
            <a:off x="1059425" y="3635087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imes New Roman" panose="02020603050405020304" pitchFamily="18" charset="0"/>
              </a:rPr>
              <a:t>Output : 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CD4937-C014-3DEB-6646-CEFD90E92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25" y="1061066"/>
            <a:ext cx="4968671" cy="24386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212101-F7A2-F2CA-DF13-77E25C3A5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25" y="4096752"/>
            <a:ext cx="3842569" cy="143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50B4-4EA5-766B-3D79-CCA5B394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936" y="85565"/>
            <a:ext cx="7534656" cy="914400"/>
          </a:xfrm>
        </p:spPr>
        <p:txBody>
          <a:bodyPr/>
          <a:lstStyle/>
          <a:p>
            <a:r>
              <a:rPr lang="en-IN" sz="2400" b="1" dirty="0"/>
              <a:t>Minimum Consultancy fee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21E5B6-F85F-29E6-FECB-2B740DD20C4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050414" y="1118372"/>
            <a:ext cx="5468373" cy="7478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C6853DA-FE5A-CEDA-BE44-CB14D2C7C2CB}"/>
              </a:ext>
            </a:extLst>
          </p:cNvPr>
          <p:cNvSpPr txBox="1">
            <a:spLocks/>
          </p:cNvSpPr>
          <p:nvPr/>
        </p:nvSpPr>
        <p:spPr>
          <a:xfrm>
            <a:off x="914400" y="1622856"/>
            <a:ext cx="7534656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Maximum Consultancy fee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9B4A52-6452-B55E-C5D0-8EF8FEDFB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14" y="2642840"/>
            <a:ext cx="5468373" cy="6804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C5EDFA-946D-1E6D-3AF1-6D82F5CB2217}"/>
              </a:ext>
            </a:extLst>
          </p:cNvPr>
          <p:cNvSpPr txBox="1"/>
          <p:nvPr/>
        </p:nvSpPr>
        <p:spPr>
          <a:xfrm>
            <a:off x="1011950" y="3706987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+mj-lt"/>
              </a:rPr>
              <a:t>Average Consultancy fee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11B9DD-AF5C-22B8-3859-F23470AB3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14" y="4205651"/>
            <a:ext cx="5468373" cy="7136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8B2BC8-FBBA-A1A8-23F9-950987660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2837" y="1118372"/>
            <a:ext cx="2813672" cy="8190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727E18-36C3-A2C3-7CDB-3C30154A1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2837" y="2609997"/>
            <a:ext cx="2813672" cy="8190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CC2F6AA-015E-DDB4-8E5C-D361366680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0837" y="4205649"/>
            <a:ext cx="2813671" cy="78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9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216310"/>
            <a:ext cx="10360152" cy="914400"/>
          </a:xfrm>
        </p:spPr>
        <p:txBody>
          <a:bodyPr/>
          <a:lstStyle/>
          <a:p>
            <a:r>
              <a:rPr lang="en-US" sz="2400" b="1" dirty="0"/>
              <a:t>Appointments where the consultation fee was greater than ₹800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D4E666-2D65-AB4C-E11D-EB1032B2F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0" y="1592234"/>
            <a:ext cx="4982270" cy="847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3B3C0A-1395-4760-99B6-91832749B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026" y="3668517"/>
            <a:ext cx="2695951" cy="2057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40616F-F1ED-C477-81B4-E458F2061A8C}"/>
              </a:ext>
            </a:extLst>
          </p:cNvPr>
          <p:cNvSpPr txBox="1"/>
          <p:nvPr/>
        </p:nvSpPr>
        <p:spPr>
          <a:xfrm>
            <a:off x="727587" y="2901601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imes New Roman" panose="02020603050405020304" pitchFamily="18" charset="0"/>
              </a:rPr>
              <a:t>Output : 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3110" y="714008"/>
            <a:ext cx="10360152" cy="726059"/>
          </a:xfrm>
        </p:spPr>
        <p:txBody>
          <a:bodyPr anchor="b"/>
          <a:lstStyle/>
          <a:p>
            <a:r>
              <a:rPr lang="en-US" sz="2400" b="1" dirty="0"/>
              <a:t>Total consultancy fee generated by each department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AED5F-D06F-415D-C677-FE715B976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630" y="1900153"/>
            <a:ext cx="5649113" cy="12288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67AE1-3F97-2D11-7533-031129637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111" y="4257779"/>
            <a:ext cx="2905530" cy="1886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D257C0-E1D9-7E13-163B-3F874C3F1E10}"/>
              </a:ext>
            </a:extLst>
          </p:cNvPr>
          <p:cNvSpPr txBox="1"/>
          <p:nvPr/>
        </p:nvSpPr>
        <p:spPr>
          <a:xfrm>
            <a:off x="3438832" y="3728952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imes New Roman" panose="02020603050405020304" pitchFamily="18" charset="0"/>
              </a:rPr>
              <a:t>Output : 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273AFB-24DA-3F39-C532-3E4E22987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084" y="1852172"/>
            <a:ext cx="5458587" cy="19147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975819-B7CF-0706-4FD9-561BF5419C0C}"/>
              </a:ext>
            </a:extLst>
          </p:cNvPr>
          <p:cNvSpPr txBox="1"/>
          <p:nvPr/>
        </p:nvSpPr>
        <p:spPr>
          <a:xfrm>
            <a:off x="825910" y="759456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Total revenue generated from patients residing in each city</a:t>
            </a:r>
            <a:endParaRPr lang="en-IN" sz="2400" b="1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D2A6B-EE27-7D4A-3AC7-F99F21A78D7A}"/>
              </a:ext>
            </a:extLst>
          </p:cNvPr>
          <p:cNvSpPr txBox="1"/>
          <p:nvPr/>
        </p:nvSpPr>
        <p:spPr>
          <a:xfrm>
            <a:off x="825910" y="402868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imes New Roman" panose="02020603050405020304" pitchFamily="18" charset="0"/>
              </a:rPr>
              <a:t>Output : 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A7DC41-DF3F-A7CC-D38C-55B74B9D1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084" y="4563866"/>
            <a:ext cx="2391109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10" y="570271"/>
            <a:ext cx="10360152" cy="914400"/>
          </a:xfrm>
        </p:spPr>
        <p:txBody>
          <a:bodyPr/>
          <a:lstStyle/>
          <a:p>
            <a:r>
              <a:rPr lang="en-IN" sz="2400" b="1" dirty="0"/>
              <a:t>Retrieving detailed appointment records, including patient demographic info and assigned doctors</a:t>
            </a: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B1031-B431-76F4-1D23-4E577CF37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360" y="1671484"/>
            <a:ext cx="5801535" cy="20100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B25A43-94B8-C50D-B567-FF6A87D48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858" y="4441114"/>
            <a:ext cx="5144218" cy="2105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1DD4DE-94F2-7FE1-89CB-170ADB829728}"/>
              </a:ext>
            </a:extLst>
          </p:cNvPr>
          <p:cNvSpPr txBox="1"/>
          <p:nvPr/>
        </p:nvSpPr>
        <p:spPr>
          <a:xfrm>
            <a:off x="825910" y="3890959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imes New Roman" panose="02020603050405020304" pitchFamily="18" charset="0"/>
              </a:rPr>
              <a:t>Output : 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2" y="580103"/>
            <a:ext cx="10993383" cy="914400"/>
          </a:xfrm>
        </p:spPr>
        <p:txBody>
          <a:bodyPr/>
          <a:lstStyle/>
          <a:p>
            <a:r>
              <a:rPr lang="en-IN" sz="2400" b="1" dirty="0"/>
              <a:t>Evaluating patient population distribution by calculating current ages and grouping them into targeted age categories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4BF16-331D-1661-3EFC-326718CF173C}"/>
              </a:ext>
            </a:extLst>
          </p:cNvPr>
          <p:cNvSpPr txBox="1"/>
          <p:nvPr/>
        </p:nvSpPr>
        <p:spPr>
          <a:xfrm>
            <a:off x="599308" y="3893372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imes New Roman" panose="02020603050405020304" pitchFamily="18" charset="0"/>
              </a:rPr>
              <a:t>Output : 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941621-2AE8-757F-5149-4EE280084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08" y="1696031"/>
            <a:ext cx="10394039" cy="19958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96DCB8-60F0-A21B-80F6-6B4029987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61" y="4556565"/>
            <a:ext cx="2118544" cy="8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6100-69F1-3AB2-D4BD-FF15C8164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6" y="178300"/>
            <a:ext cx="8957187" cy="914400"/>
          </a:xfrm>
        </p:spPr>
        <p:txBody>
          <a:bodyPr/>
          <a:lstStyle/>
          <a:p>
            <a:r>
              <a:rPr lang="en-IN" sz="2400" b="1" dirty="0"/>
              <a:t>Monthly Revenue &amp; Cumulative Revenue Analysis.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DEB8BD-605D-EED3-1789-42E1B72FBCF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25909" y="1267702"/>
            <a:ext cx="7462684" cy="2888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57EE15-A6A6-8CE2-D0AA-2E54E1489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9" y="4821160"/>
            <a:ext cx="4826028" cy="16549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B01403-DAFF-0C50-CFBD-5DF0A0F66F7C}"/>
              </a:ext>
            </a:extLst>
          </p:cNvPr>
          <p:cNvSpPr txBox="1"/>
          <p:nvPr/>
        </p:nvSpPr>
        <p:spPr>
          <a:xfrm>
            <a:off x="727586" y="433107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imes New Roman" panose="02020603050405020304" pitchFamily="18" charset="0"/>
              </a:rPr>
              <a:t>Output : </a:t>
            </a:r>
            <a:endParaRPr lang="en-US" sz="2400" b="1" cap="none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060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D011-8EDE-3547-092F-C56C62E81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1436738"/>
            <a:ext cx="10274709" cy="3984523"/>
          </a:xfrm>
        </p:spPr>
        <p:txBody>
          <a:bodyPr/>
          <a:lstStyle/>
          <a:p>
            <a:pPr algn="l"/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1. Analyzed 150 patient records and 50 hospital appointments.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2. Identified 42 unique doctors, with Cardiology having the highest count (8).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3. 64% of patients belong to the 30–35 age group.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4. July recorded the highest number of appointments (11).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5. Consultation fees ranged from ₹400 to ₹1,250, with an average of ₹700.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6. Total consultation revenue reached ₹35,000, with July generating the highest monthly revenue of ₹7,600.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38469-3A0F-FFFE-B0A3-B2B41F48C3B9}"/>
              </a:ext>
            </a:extLst>
          </p:cNvPr>
          <p:cNvSpPr txBox="1"/>
          <p:nvPr/>
        </p:nvSpPr>
        <p:spPr>
          <a:xfrm>
            <a:off x="3775587" y="909258"/>
            <a:ext cx="495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</a:rPr>
              <a:t>KEY FINDINGS &amp; INSIGHTS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6702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258" y="1671482"/>
            <a:ext cx="5641848" cy="2708787"/>
          </a:xfrm>
        </p:spPr>
        <p:txBody>
          <a:bodyPr/>
          <a:lstStyle/>
          <a:p>
            <a:r>
              <a:rPr lang="en-US" dirty="0"/>
              <a:t>Thank you…!!!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{15774A72-9F3B-4910-BBB1-C6D04B11B4D9}TF1ed9553b-00c4-4092-846a-c8f7f2908f3beecd942f_win32-8e33096c3cfc</Template>
  <TotalTime>242</TotalTime>
  <Words>378</Words>
  <Application>Microsoft Office PowerPoint</Application>
  <PresentationFormat>Widescreen</PresentationFormat>
  <Paragraphs>67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Patient &amp; Hospital Insights  through SQL</vt:lpstr>
      <vt:lpstr>PowerPoint Presentation</vt:lpstr>
      <vt:lpstr>DATASET OVERVIEW Dataset: Patient &amp; Hospital Appointment Data Database Tables: 2  </vt:lpstr>
      <vt:lpstr>PowerPoint Presentation</vt:lpstr>
      <vt:lpstr>PowerPoint Presentation</vt:lpstr>
      <vt:lpstr>PowerPoint Presentation</vt:lpstr>
      <vt:lpstr>No.of Doctors Department wise</vt:lpstr>
      <vt:lpstr>Top 5 cities having the highest number of registered patients</vt:lpstr>
      <vt:lpstr>Top 3 doctors who have handled the highest number of patient consultations</vt:lpstr>
      <vt:lpstr>Monthly Appointment Analysis</vt:lpstr>
      <vt:lpstr>Minimum Consultancy fee</vt:lpstr>
      <vt:lpstr>Appointments where the consultation fee was greater than ₹800</vt:lpstr>
      <vt:lpstr>Total consultancy fee generated by each department</vt:lpstr>
      <vt:lpstr>PowerPoint Presentation</vt:lpstr>
      <vt:lpstr>Retrieving detailed appointment records, including patient demographic info and assigned doctors</vt:lpstr>
      <vt:lpstr>Evaluating patient population distribution by calculating current ages and grouping them into targeted age categories</vt:lpstr>
      <vt:lpstr>Monthly Revenue &amp; Cumulative Revenue Analysis.</vt:lpstr>
      <vt:lpstr>  1. Analyzed 150 patient records and 50 hospital appointments.  2. Identified 42 unique doctors, with Cardiology having the highest count (8).  3. 64% of patients belong to the 30–35 age group.  4. July recorded the highest number of appointments (11).  5. Consultation fees ranged from ₹400 to ₹1,250, with an average of ₹700.  6. Total consultation revenue reached ₹35,000, with July generating the highest monthly revenue of ₹7,600.</vt:lpstr>
      <vt:lpstr>Thank you…!!!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Kavitha Vasamsetti</dc:creator>
  <cp:lastModifiedBy>Kavitha Vasamsetti</cp:lastModifiedBy>
  <cp:revision>2</cp:revision>
  <dcterms:created xsi:type="dcterms:W3CDTF">2026-09-11T13:16:00Z</dcterms:created>
  <dcterms:modified xsi:type="dcterms:W3CDTF">2026-10-26T03:26:41Z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